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More Sugar" panose="020B0604020202020204" charset="0"/>
      <p:regular r:id="rId17"/>
    </p:embeddedFont>
    <p:embeddedFont>
      <p:font typeface="Sniglet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1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9104" y="3209427"/>
            <a:ext cx="15869792" cy="7229973"/>
            <a:chOff x="0" y="0"/>
            <a:chExt cx="1393825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8250" cy="6350000"/>
            </a:xfrm>
            <a:custGeom>
              <a:avLst/>
              <a:gdLst/>
              <a:ahLst/>
              <a:cxnLst/>
              <a:rect l="l" t="t" r="r" b="b"/>
              <a:pathLst>
                <a:path w="13938250" h="6350000">
                  <a:moveTo>
                    <a:pt x="12528550" y="6350000"/>
                  </a:moveTo>
                  <a:lnTo>
                    <a:pt x="1410970" y="6350000"/>
                  </a:lnTo>
                  <a:cubicBezTo>
                    <a:pt x="631190" y="6350000"/>
                    <a:pt x="0" y="5718810"/>
                    <a:pt x="0" y="4939030"/>
                  </a:cubicBezTo>
                  <a:lnTo>
                    <a:pt x="0" y="4895850"/>
                  </a:lnTo>
                  <a:cubicBezTo>
                    <a:pt x="0" y="2037080"/>
                    <a:pt x="2317750" y="0"/>
                    <a:pt x="5175250" y="0"/>
                  </a:cubicBezTo>
                  <a:lnTo>
                    <a:pt x="8763000" y="0"/>
                  </a:lnTo>
                  <a:cubicBezTo>
                    <a:pt x="11621770" y="0"/>
                    <a:pt x="13938250" y="2037080"/>
                    <a:pt x="13938250" y="4895850"/>
                  </a:cubicBezTo>
                  <a:lnTo>
                    <a:pt x="13938250" y="4939030"/>
                  </a:lnTo>
                  <a:cubicBezTo>
                    <a:pt x="13938250" y="5718810"/>
                    <a:pt x="13307061" y="6350000"/>
                    <a:pt x="12528550" y="6350000"/>
                  </a:cubicBezTo>
                  <a:close/>
                </a:path>
              </a:pathLst>
            </a:custGeom>
            <a:solidFill>
              <a:srgbClr val="825131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803447" y="3598569"/>
            <a:ext cx="14681106" cy="6688431"/>
            <a:chOff x="0" y="0"/>
            <a:chExt cx="1393825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938250" cy="6350000"/>
            </a:xfrm>
            <a:custGeom>
              <a:avLst/>
              <a:gdLst/>
              <a:ahLst/>
              <a:cxnLst/>
              <a:rect l="l" t="t" r="r" b="b"/>
              <a:pathLst>
                <a:path w="13938250" h="6350000">
                  <a:moveTo>
                    <a:pt x="12528550" y="6350000"/>
                  </a:moveTo>
                  <a:lnTo>
                    <a:pt x="1410970" y="6350000"/>
                  </a:lnTo>
                  <a:cubicBezTo>
                    <a:pt x="631190" y="6350000"/>
                    <a:pt x="0" y="5718810"/>
                    <a:pt x="0" y="4939030"/>
                  </a:cubicBezTo>
                  <a:lnTo>
                    <a:pt x="0" y="4895850"/>
                  </a:lnTo>
                  <a:cubicBezTo>
                    <a:pt x="0" y="2037080"/>
                    <a:pt x="2317750" y="0"/>
                    <a:pt x="5175250" y="0"/>
                  </a:cubicBezTo>
                  <a:lnTo>
                    <a:pt x="8763000" y="0"/>
                  </a:lnTo>
                  <a:cubicBezTo>
                    <a:pt x="11621770" y="0"/>
                    <a:pt x="13938250" y="2037080"/>
                    <a:pt x="13938250" y="4895850"/>
                  </a:cubicBezTo>
                  <a:lnTo>
                    <a:pt x="13938250" y="4939030"/>
                  </a:lnTo>
                  <a:cubicBezTo>
                    <a:pt x="13938250" y="5718810"/>
                    <a:pt x="13307061" y="6350000"/>
                    <a:pt x="12528550" y="6350000"/>
                  </a:cubicBezTo>
                  <a:close/>
                </a:path>
              </a:pathLst>
            </a:custGeom>
            <a:solidFill>
              <a:srgbClr val="A7613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287516" y="4725941"/>
            <a:ext cx="13712968" cy="5713459"/>
            <a:chOff x="0" y="0"/>
            <a:chExt cx="13938250" cy="58073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938250" cy="5807322"/>
            </a:xfrm>
            <a:custGeom>
              <a:avLst/>
              <a:gdLst/>
              <a:ahLst/>
              <a:cxnLst/>
              <a:rect l="l" t="t" r="r" b="b"/>
              <a:pathLst>
                <a:path w="13938250" h="5807322">
                  <a:moveTo>
                    <a:pt x="12528550" y="5807322"/>
                  </a:moveTo>
                  <a:lnTo>
                    <a:pt x="1410970" y="5807322"/>
                  </a:lnTo>
                  <a:cubicBezTo>
                    <a:pt x="631190" y="5807322"/>
                    <a:pt x="0" y="5230074"/>
                    <a:pt x="0" y="4516935"/>
                  </a:cubicBezTo>
                  <a:lnTo>
                    <a:pt x="0" y="4477445"/>
                  </a:lnTo>
                  <a:cubicBezTo>
                    <a:pt x="0" y="1862989"/>
                    <a:pt x="2317750" y="0"/>
                    <a:pt x="5175250" y="0"/>
                  </a:cubicBezTo>
                  <a:lnTo>
                    <a:pt x="8763000" y="0"/>
                  </a:lnTo>
                  <a:cubicBezTo>
                    <a:pt x="11621770" y="0"/>
                    <a:pt x="13938250" y="1862989"/>
                    <a:pt x="13938250" y="4477445"/>
                  </a:cubicBezTo>
                  <a:lnTo>
                    <a:pt x="13938250" y="4516935"/>
                  </a:lnTo>
                  <a:cubicBezTo>
                    <a:pt x="13938250" y="5230074"/>
                    <a:pt x="13307061" y="5807322"/>
                    <a:pt x="12528550" y="5807322"/>
                  </a:cubicBezTo>
                  <a:close/>
                </a:path>
              </a:pathLst>
            </a:custGeom>
            <a:blipFill>
              <a:blip r:embed="rId2"/>
              <a:stretch>
                <a:fillRect t="-4847" b="-5505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262285" y="1028700"/>
            <a:ext cx="15763429" cy="3697241"/>
          </a:xfrm>
          <a:custGeom>
            <a:avLst/>
            <a:gdLst/>
            <a:ahLst/>
            <a:cxnLst/>
            <a:rect l="l" t="t" r="r" b="b"/>
            <a:pathLst>
              <a:path w="15763429" h="3697241">
                <a:moveTo>
                  <a:pt x="0" y="0"/>
                </a:moveTo>
                <a:lnTo>
                  <a:pt x="15763430" y="0"/>
                </a:lnTo>
                <a:lnTo>
                  <a:pt x="15763430" y="3697241"/>
                </a:lnTo>
                <a:lnTo>
                  <a:pt x="0" y="3697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84244" y="1558426"/>
            <a:ext cx="13200309" cy="108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8"/>
              </a:lnSpc>
            </a:pPr>
            <a:r>
              <a:rPr lang="en-US" sz="6305">
                <a:solidFill>
                  <a:srgbClr val="36231F"/>
                </a:solidFill>
                <a:latin typeface="More Sugar"/>
                <a:ea typeface="More Sugar"/>
                <a:cs typeface="More Sugar"/>
                <a:sym typeface="More Sugar"/>
              </a:rPr>
              <a:t>Prompt Engineering for Educators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67722" y="2782070"/>
            <a:ext cx="13516830" cy="1729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8"/>
              </a:lnSpc>
            </a:pPr>
            <a:r>
              <a:rPr lang="en-US" sz="4948">
                <a:solidFill>
                  <a:srgbClr val="36231F"/>
                </a:solidFill>
                <a:latin typeface="Sniglet"/>
                <a:ea typeface="Sniglet"/>
                <a:cs typeface="Sniglet"/>
                <a:sym typeface="Sniglet"/>
              </a:rPr>
              <a:t>Using AI tools effectively for lesson planning, teaching, and assessments.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67148" cy="2111280"/>
          </a:xfrm>
          <a:custGeom>
            <a:avLst/>
            <a:gdLst/>
            <a:ahLst/>
            <a:cxnLst/>
            <a:rect l="l" t="t" r="r" b="b"/>
            <a:pathLst>
              <a:path w="5467148" h="2111280">
                <a:moveTo>
                  <a:pt x="0" y="0"/>
                </a:moveTo>
                <a:lnTo>
                  <a:pt x="5467148" y="0"/>
                </a:lnTo>
                <a:lnTo>
                  <a:pt x="5467148" y="2111280"/>
                </a:lnTo>
                <a:lnTo>
                  <a:pt x="0" y="211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8918480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7229070" flipV="1">
            <a:off x="16664195" y="5785788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4"/>
                </a:moveTo>
                <a:lnTo>
                  <a:pt x="6350998" y="6666124"/>
                </a:lnTo>
                <a:lnTo>
                  <a:pt x="6350998" y="0"/>
                </a:lnTo>
                <a:lnTo>
                  <a:pt x="0" y="0"/>
                </a:lnTo>
                <a:lnTo>
                  <a:pt x="0" y="66661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07052" y="1511205"/>
            <a:ext cx="14673896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What is Prompt Engineering?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7052" y="3527330"/>
            <a:ext cx="14673896" cy="6591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Prompt Engineering means writing clear instructions for AI to get better responses.</a:t>
            </a:r>
          </a:p>
          <a:p>
            <a:pPr algn="just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Example:</a:t>
            </a:r>
          </a:p>
          <a:p>
            <a:pPr algn="just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Create a simple lesson plan to teach Photosynthesis to Grade 4 students. Include learning objectives, a short explanation, one classroom activity, and 3 quiz questions using child-friendly language.</a:t>
            </a:r>
          </a:p>
          <a:p>
            <a:pPr algn="just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0" y="3155855"/>
            <a:ext cx="18288000" cy="19050"/>
          </a:xfrm>
          <a:prstGeom prst="line">
            <a:avLst/>
          </a:prstGeom>
          <a:ln w="38100" cap="flat">
            <a:solidFill>
              <a:srgbClr val="D2A67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0865" y="-173622"/>
            <a:ext cx="5467148" cy="2111280"/>
          </a:xfrm>
          <a:custGeom>
            <a:avLst/>
            <a:gdLst/>
            <a:ahLst/>
            <a:cxnLst/>
            <a:rect l="l" t="t" r="r" b="b"/>
            <a:pathLst>
              <a:path w="5467148" h="2111280">
                <a:moveTo>
                  <a:pt x="0" y="0"/>
                </a:moveTo>
                <a:lnTo>
                  <a:pt x="5467148" y="0"/>
                </a:lnTo>
                <a:lnTo>
                  <a:pt x="5467148" y="2111280"/>
                </a:lnTo>
                <a:lnTo>
                  <a:pt x="0" y="211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238164" y="7950700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644398" flipV="1">
            <a:off x="-2675828" y="7497465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3"/>
                </a:moveTo>
                <a:lnTo>
                  <a:pt x="6350998" y="6666123"/>
                </a:lnTo>
                <a:lnTo>
                  <a:pt x="6350998" y="0"/>
                </a:lnTo>
                <a:lnTo>
                  <a:pt x="0" y="0"/>
                </a:lnTo>
                <a:lnTo>
                  <a:pt x="0" y="66661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193845"/>
            <a:ext cx="15752298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Why Educators Should Learn Prompt Engineering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56725" y="4360465"/>
            <a:ext cx="16431275" cy="416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308" lvl="1" indent="-437154" algn="l">
              <a:lnSpc>
                <a:spcPts val="5669"/>
              </a:lnSpc>
              <a:buFont typeface="Arial"/>
              <a:buChar char="•"/>
            </a:pPr>
            <a:r>
              <a:rPr lang="en-US" sz="404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Create Lesson plans.</a:t>
            </a:r>
          </a:p>
          <a:p>
            <a:pPr marL="874308" lvl="1" indent="-437154" algn="l">
              <a:lnSpc>
                <a:spcPts val="5669"/>
              </a:lnSpc>
              <a:buFont typeface="Arial"/>
              <a:buChar char="•"/>
            </a:pPr>
            <a:r>
              <a:rPr lang="en-US" sz="404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Generate worksheets.</a:t>
            </a:r>
          </a:p>
          <a:p>
            <a:pPr marL="874308" lvl="1" indent="-437154" algn="l">
              <a:lnSpc>
                <a:spcPts val="5669"/>
              </a:lnSpc>
              <a:buFont typeface="Arial"/>
              <a:buChar char="•"/>
            </a:pPr>
            <a:r>
              <a:rPr lang="en-US" sz="404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Simplify complex topics.</a:t>
            </a:r>
          </a:p>
          <a:p>
            <a:pPr marL="874308" lvl="1" indent="-437154" algn="l">
              <a:lnSpc>
                <a:spcPts val="5669"/>
              </a:lnSpc>
              <a:buFont typeface="Arial"/>
              <a:buChar char="•"/>
            </a:pPr>
            <a:r>
              <a:rPr lang="en-US" sz="404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Create quizzes.</a:t>
            </a:r>
          </a:p>
          <a:p>
            <a:pPr marL="874308" lvl="1" indent="-437154" algn="l">
              <a:lnSpc>
                <a:spcPts val="5669"/>
              </a:lnSpc>
              <a:buFont typeface="Arial"/>
              <a:buChar char="•"/>
            </a:pPr>
            <a:r>
              <a:rPr lang="en-US" sz="404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Generate examples for students.</a:t>
            </a:r>
          </a:p>
          <a:p>
            <a:pPr algn="l">
              <a:lnSpc>
                <a:spcPts val="4829"/>
              </a:lnSpc>
            </a:pPr>
            <a:endParaRPr lang="en-US" sz="4049" dirty="0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85309" y="-26940"/>
            <a:ext cx="5467148" cy="2111280"/>
          </a:xfrm>
          <a:custGeom>
            <a:avLst/>
            <a:gdLst/>
            <a:ahLst/>
            <a:cxnLst/>
            <a:rect l="l" t="t" r="r" b="b"/>
            <a:pathLst>
              <a:path w="5467148" h="2111280">
                <a:moveTo>
                  <a:pt x="0" y="0"/>
                </a:moveTo>
                <a:lnTo>
                  <a:pt x="5467148" y="0"/>
                </a:lnTo>
                <a:lnTo>
                  <a:pt x="5467148" y="2111280"/>
                </a:lnTo>
                <a:lnTo>
                  <a:pt x="0" y="211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238164" y="7950700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5034581" y="-4297594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8" y="0"/>
                </a:lnTo>
                <a:lnTo>
                  <a:pt x="6506838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644398" flipV="1">
            <a:off x="-3583709" y="7286830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4"/>
                </a:moveTo>
                <a:lnTo>
                  <a:pt x="6350998" y="6666124"/>
                </a:lnTo>
                <a:lnTo>
                  <a:pt x="6350998" y="0"/>
                </a:lnTo>
                <a:lnTo>
                  <a:pt x="0" y="0"/>
                </a:lnTo>
                <a:lnTo>
                  <a:pt x="0" y="66661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04378" y="1082649"/>
            <a:ext cx="1172430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Basic Prompt Structure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81857" y="3294953"/>
            <a:ext cx="14724286" cy="790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Good prompts usually include: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5879"/>
              </a:lnSpc>
            </a:pPr>
            <a:r>
              <a:rPr lang="en-US" sz="4199" u="sng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Role + Task + Context + Format</a:t>
            </a:r>
          </a:p>
          <a:p>
            <a:pPr algn="just">
              <a:lnSpc>
                <a:spcPts val="5879"/>
              </a:lnSpc>
            </a:pPr>
            <a:endParaRPr lang="en-US" sz="4199" u="sng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Example: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You are a science teacher.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 Explain gravity to a Grade 3 student using simple examples.</a:t>
            </a:r>
          </a:p>
          <a:p>
            <a:pPr algn="just">
              <a:lnSpc>
                <a:spcPts val="587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587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587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0" y="2798715"/>
            <a:ext cx="18288000" cy="19050"/>
          </a:xfrm>
          <a:prstGeom prst="line">
            <a:avLst/>
          </a:prstGeom>
          <a:ln w="38100" cap="flat">
            <a:solidFill>
              <a:srgbClr val="D2A67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1648" y="726771"/>
            <a:ext cx="11079206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Real-Life Examples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91648" y="3159625"/>
            <a:ext cx="14263691" cy="6591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Prompt: Summarize the following in simple terms for a beginner </a:t>
            </a:r>
          </a:p>
          <a:p>
            <a:pPr algn="just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Prompt engineering is the technical discipline of structuring, refining, and optimizing input queries (prompts) to maximize the accuracy, relevance, and safety of outputs from Large Language Models (LLMs).</a:t>
            </a:r>
          </a:p>
          <a:p>
            <a:pPr algn="just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AI output: Prompt engineering is the skill of writing clear, detailed instructions to help an AI understand exactly what you need. It’s like giving a precise recipe to a chef to ensure the final dish turns out perfectly every time.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91648" y="2194024"/>
            <a:ext cx="11079206" cy="698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19" lvl="1" indent="-431809" algn="l">
              <a:lnSpc>
                <a:spcPts val="5600"/>
              </a:lnSpc>
              <a:buAutoNum type="arabicPeriod"/>
            </a:pPr>
            <a:r>
              <a:rPr lang="en-US" sz="40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Summary in simple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238164" y="7950700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83085" y="1300408"/>
            <a:ext cx="13752911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Suggest an ice breaking activity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3085" y="2385566"/>
            <a:ext cx="15731442" cy="731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37"/>
              </a:lnSpc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Prompt:</a:t>
            </a:r>
          </a:p>
          <a:p>
            <a:pPr algn="just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837"/>
              </a:lnSpc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Suggest an ice-breaking activity to introduce loops to a 4th grade student</a:t>
            </a:r>
          </a:p>
          <a:p>
            <a:pPr algn="just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837"/>
              </a:lnSpc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AI output:</a:t>
            </a:r>
          </a:p>
          <a:p>
            <a:pPr algn="just">
              <a:lnSpc>
                <a:spcPts val="4837"/>
              </a:lnSpc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Today, you are a robot, and I am the programmer. Robots only follow instructions exactly. (Repeat each instruction)</a:t>
            </a:r>
          </a:p>
          <a:p>
            <a:pPr algn="just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870293" lvl="1" indent="-435147" algn="l">
              <a:lnSpc>
                <a:spcPts val="4837"/>
              </a:lnSpc>
              <a:buFont typeface="Arial"/>
              <a:buChar char="•"/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Clap</a:t>
            </a:r>
          </a:p>
          <a:p>
            <a:pPr marL="870293" lvl="1" indent="-435147" algn="l">
              <a:lnSpc>
                <a:spcPts val="4837"/>
              </a:lnSpc>
              <a:buFont typeface="Arial"/>
              <a:buChar char="•"/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Jump</a:t>
            </a:r>
          </a:p>
          <a:p>
            <a:pPr algn="just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238164" y="7950700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83085" y="1300408"/>
            <a:ext cx="13752911" cy="78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Generate worksheet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83085" y="2385566"/>
            <a:ext cx="15731442" cy="670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37"/>
              </a:lnSpc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Prompt:</a:t>
            </a:r>
          </a:p>
          <a:p>
            <a:pPr algn="just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837"/>
              </a:lnSpc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Create 2 MCQ on nouns</a:t>
            </a:r>
          </a:p>
          <a:p>
            <a:pPr algn="just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837"/>
              </a:lnSpc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AI output:</a:t>
            </a:r>
          </a:p>
          <a:p>
            <a:pPr algn="just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870293" lvl="1" indent="-435147" algn="l">
              <a:lnSpc>
                <a:spcPts val="4837"/>
              </a:lnSpc>
              <a:buAutoNum type="arabicPeriod"/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Which word is a noun? a) Run b) Happy c)Dog d) Quickly</a:t>
            </a:r>
          </a:p>
          <a:p>
            <a:pPr marL="870293" lvl="1" indent="-435147" algn="l">
              <a:lnSpc>
                <a:spcPts val="4837"/>
              </a:lnSpc>
              <a:buAutoNum type="arabicPeriod"/>
            </a:pPr>
            <a:r>
              <a:rPr lang="en-US" sz="403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Which of these is a noun? a) Beautiful b) Eat c) Teacher d) slowly </a:t>
            </a:r>
          </a:p>
          <a:p>
            <a:pPr algn="l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837"/>
              </a:lnSpc>
            </a:pPr>
            <a:endParaRPr lang="en-US" sz="4031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7644398" flipV="1">
            <a:off x="-2936262" y="6868083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4"/>
                </a:moveTo>
                <a:lnTo>
                  <a:pt x="6350998" y="6666124"/>
                </a:lnTo>
                <a:lnTo>
                  <a:pt x="6350998" y="0"/>
                </a:lnTo>
                <a:lnTo>
                  <a:pt x="0" y="0"/>
                </a:lnTo>
                <a:lnTo>
                  <a:pt x="0" y="66661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6564" y="3322804"/>
            <a:ext cx="6187183" cy="263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Good Vs Bad</a:t>
            </a:r>
          </a:p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Prompt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33747" y="859819"/>
            <a:ext cx="10325553" cy="359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Bad Prompt: Explain AI</a:t>
            </a:r>
          </a:p>
          <a:p>
            <a:pPr algn="just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Good Prompt: Explain Artificial Intelligence to Grade 6 students using a real-life example.</a:t>
            </a:r>
          </a:p>
          <a:p>
            <a:pPr algn="just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just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933747" y="4530531"/>
            <a:ext cx="11053068" cy="385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38"/>
              </a:lnSpc>
            </a:pPr>
            <a:r>
              <a:rPr lang="en-US" sz="4281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The bad prompt is too general, so the AI may give a complex explanation. The good prompt specifies the audience (Grade 6 students) and asks for a real-life example, which helps the AI generate a clearer and more appropriate response.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67148" cy="2111280"/>
          </a:xfrm>
          <a:custGeom>
            <a:avLst/>
            <a:gdLst/>
            <a:ahLst/>
            <a:cxnLst/>
            <a:rect l="l" t="t" r="r" b="b"/>
            <a:pathLst>
              <a:path w="5467148" h="2111280">
                <a:moveTo>
                  <a:pt x="0" y="0"/>
                </a:moveTo>
                <a:lnTo>
                  <a:pt x="5467148" y="0"/>
                </a:lnTo>
                <a:lnTo>
                  <a:pt x="5467148" y="2111280"/>
                </a:lnTo>
                <a:lnTo>
                  <a:pt x="0" y="211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238164" y="7950700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644398" flipV="1">
            <a:off x="-3501570" y="7523047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4"/>
                </a:moveTo>
                <a:lnTo>
                  <a:pt x="6350998" y="6666124"/>
                </a:lnTo>
                <a:lnTo>
                  <a:pt x="6350998" y="0"/>
                </a:lnTo>
                <a:lnTo>
                  <a:pt x="0" y="0"/>
                </a:lnTo>
                <a:lnTo>
                  <a:pt x="0" y="66661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81232" y="3945497"/>
            <a:ext cx="13099887" cy="411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68"/>
              </a:lnSpc>
            </a:pPr>
            <a:r>
              <a:rPr lang="en-US" sz="4556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Educators should:</a:t>
            </a:r>
          </a:p>
          <a:p>
            <a:pPr algn="just">
              <a:lnSpc>
                <a:spcPts val="5468"/>
              </a:lnSpc>
            </a:pPr>
            <a:endParaRPr lang="en-US" sz="4556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983795" lvl="1" indent="-491897" algn="l">
              <a:lnSpc>
                <a:spcPts val="5468"/>
              </a:lnSpc>
              <a:buFont typeface="Arial"/>
              <a:buChar char="•"/>
            </a:pPr>
            <a:r>
              <a:rPr lang="en-US" sz="4556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Verify AI answers </a:t>
            </a:r>
          </a:p>
          <a:p>
            <a:pPr marL="983795" lvl="1" indent="-491897" algn="l">
              <a:lnSpc>
                <a:spcPts val="5468"/>
              </a:lnSpc>
              <a:buFont typeface="Arial"/>
              <a:buChar char="•"/>
            </a:pPr>
            <a:r>
              <a:rPr lang="en-US" sz="4556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Avoid bias </a:t>
            </a:r>
          </a:p>
          <a:p>
            <a:pPr marL="983795" lvl="1" indent="-491897" algn="l">
              <a:lnSpc>
                <a:spcPts val="5468"/>
              </a:lnSpc>
              <a:buFont typeface="Arial"/>
              <a:buChar char="•"/>
            </a:pPr>
            <a:r>
              <a:rPr lang="en-US" sz="4556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Protect student privacy </a:t>
            </a:r>
          </a:p>
          <a:p>
            <a:pPr marL="983795" lvl="1" indent="-491897" algn="l">
              <a:lnSpc>
                <a:spcPts val="5468"/>
              </a:lnSpc>
              <a:buFont typeface="Arial"/>
              <a:buChar char="•"/>
            </a:pPr>
            <a:r>
              <a:rPr lang="en-US" sz="4556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Use AI as a support tool, not replacement.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3100" y="1377855"/>
            <a:ext cx="10310715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Responsible Use of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67148" cy="2111280"/>
          </a:xfrm>
          <a:custGeom>
            <a:avLst/>
            <a:gdLst/>
            <a:ahLst/>
            <a:cxnLst/>
            <a:rect l="l" t="t" r="r" b="b"/>
            <a:pathLst>
              <a:path w="5467148" h="2111280">
                <a:moveTo>
                  <a:pt x="0" y="0"/>
                </a:moveTo>
                <a:lnTo>
                  <a:pt x="5467148" y="0"/>
                </a:lnTo>
                <a:lnTo>
                  <a:pt x="5467148" y="2111280"/>
                </a:lnTo>
                <a:lnTo>
                  <a:pt x="0" y="211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238164" y="7950700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644398" flipV="1">
            <a:off x="-2936262" y="6868083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4"/>
                </a:moveTo>
                <a:lnTo>
                  <a:pt x="6350998" y="6666124"/>
                </a:lnTo>
                <a:lnTo>
                  <a:pt x="6350998" y="0"/>
                </a:lnTo>
                <a:lnTo>
                  <a:pt x="0" y="0"/>
                </a:lnTo>
                <a:lnTo>
                  <a:pt x="0" y="66661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81848" y="1949355"/>
            <a:ext cx="1172430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Practice Activity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7052" y="3898945"/>
            <a:ext cx="14673896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Ask learners to write a prompt: </a:t>
            </a:r>
          </a:p>
          <a:p>
            <a:pPr algn="ctr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Task: Write a prompt to generate a math quiz for Grade 3 students.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67148" cy="2111280"/>
          </a:xfrm>
          <a:custGeom>
            <a:avLst/>
            <a:gdLst/>
            <a:ahLst/>
            <a:cxnLst/>
            <a:rect l="l" t="t" r="r" b="b"/>
            <a:pathLst>
              <a:path w="5467148" h="2111280">
                <a:moveTo>
                  <a:pt x="0" y="0"/>
                </a:moveTo>
                <a:lnTo>
                  <a:pt x="5467148" y="0"/>
                </a:lnTo>
                <a:lnTo>
                  <a:pt x="5467148" y="2111280"/>
                </a:lnTo>
                <a:lnTo>
                  <a:pt x="0" y="211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585409" y="8384756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644398" flipV="1">
            <a:off x="-3175499" y="7128517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4"/>
                </a:moveTo>
                <a:lnTo>
                  <a:pt x="6350998" y="6666124"/>
                </a:lnTo>
                <a:lnTo>
                  <a:pt x="6350998" y="0"/>
                </a:lnTo>
                <a:lnTo>
                  <a:pt x="0" y="0"/>
                </a:lnTo>
                <a:lnTo>
                  <a:pt x="0" y="66661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81848" y="806355"/>
            <a:ext cx="1172430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Quiz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49622" y="2764641"/>
            <a:ext cx="14673896" cy="5528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Question 1</a:t>
            </a:r>
          </a:p>
          <a:p>
            <a:pPr algn="l">
              <a:lnSpc>
                <a:spcPts val="4799"/>
              </a:lnSpc>
            </a:pPr>
            <a:endParaRPr lang="en-US" sz="3999" dirty="0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What is Prompt Engineering?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A. Writing code for AI models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B. Writing clear instructions to guide AI responses 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C. Training AI using large datasets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D. Building AI hardware</a:t>
            </a:r>
          </a:p>
          <a:p>
            <a:pPr algn="l">
              <a:lnSpc>
                <a:spcPts val="4799"/>
              </a:lnSpc>
            </a:pPr>
            <a:endParaRPr lang="en-US" sz="3999" dirty="0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ctr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Correct Answer: 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67148" cy="2111280"/>
          </a:xfrm>
          <a:custGeom>
            <a:avLst/>
            <a:gdLst/>
            <a:ahLst/>
            <a:cxnLst/>
            <a:rect l="l" t="t" r="r" b="b"/>
            <a:pathLst>
              <a:path w="5467148" h="2111280">
                <a:moveTo>
                  <a:pt x="0" y="0"/>
                </a:moveTo>
                <a:lnTo>
                  <a:pt x="5467148" y="0"/>
                </a:lnTo>
                <a:lnTo>
                  <a:pt x="5467148" y="2111280"/>
                </a:lnTo>
                <a:lnTo>
                  <a:pt x="0" y="211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542004" y="8818812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5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5" y="0"/>
                </a:lnTo>
                <a:lnTo>
                  <a:pt x="6049835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644398" flipV="1">
            <a:off x="-3544447" y="7387994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4"/>
                </a:moveTo>
                <a:lnTo>
                  <a:pt x="6350998" y="6666124"/>
                </a:lnTo>
                <a:lnTo>
                  <a:pt x="6350998" y="0"/>
                </a:lnTo>
                <a:lnTo>
                  <a:pt x="0" y="0"/>
                </a:lnTo>
                <a:lnTo>
                  <a:pt x="0" y="66661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81848" y="1081243"/>
            <a:ext cx="1172430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Quiz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7269" y="2795587"/>
            <a:ext cx="14673896" cy="6144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Question 2</a:t>
            </a:r>
          </a:p>
          <a:p>
            <a:pPr algn="l">
              <a:lnSpc>
                <a:spcPts val="4799"/>
              </a:lnSpc>
            </a:pPr>
            <a:endParaRPr lang="en-US" sz="3999" dirty="0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Which of the following is a better prompt for teaching students?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A. Explain gravity.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B. Explain gravity to Grade 4 students using a simple real-life example.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C. Gravity explanation.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D. What is gravity?</a:t>
            </a:r>
          </a:p>
          <a:p>
            <a:pPr algn="ctr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Correct Answer: B</a:t>
            </a:r>
          </a:p>
          <a:p>
            <a:pPr algn="ctr">
              <a:lnSpc>
                <a:spcPts val="4799"/>
              </a:lnSpc>
            </a:pPr>
            <a:endParaRPr lang="en-US" sz="3999" dirty="0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67148" cy="2111280"/>
          </a:xfrm>
          <a:custGeom>
            <a:avLst/>
            <a:gdLst/>
            <a:ahLst/>
            <a:cxnLst/>
            <a:rect l="l" t="t" r="r" b="b"/>
            <a:pathLst>
              <a:path w="5467148" h="2111280">
                <a:moveTo>
                  <a:pt x="0" y="0"/>
                </a:moveTo>
                <a:lnTo>
                  <a:pt x="5467148" y="0"/>
                </a:lnTo>
                <a:lnTo>
                  <a:pt x="5467148" y="2111280"/>
                </a:lnTo>
                <a:lnTo>
                  <a:pt x="0" y="211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585409" y="8384756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644398" flipV="1">
            <a:off x="-3175499" y="7128517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4"/>
                </a:moveTo>
                <a:lnTo>
                  <a:pt x="6350998" y="6666124"/>
                </a:lnTo>
                <a:lnTo>
                  <a:pt x="6350998" y="0"/>
                </a:lnTo>
                <a:lnTo>
                  <a:pt x="0" y="0"/>
                </a:lnTo>
                <a:lnTo>
                  <a:pt x="0" y="66661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08226" y="473565"/>
            <a:ext cx="1172430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Quiz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02377" y="2023449"/>
            <a:ext cx="16050119" cy="7375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Question 3</a:t>
            </a:r>
          </a:p>
          <a:p>
            <a:pPr algn="l">
              <a:lnSpc>
                <a:spcPts val="4799"/>
              </a:lnSpc>
            </a:pPr>
            <a:endParaRPr lang="en-US" sz="3999" dirty="0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Why should educators use prompt engineering with AI tools?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A. To replace teachers in classrooms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B. To generate lesson plans, quizzes, and learning materials more effectively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 C. To make AI learn faster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 D. To build new AI models</a:t>
            </a:r>
          </a:p>
          <a:p>
            <a:pPr algn="l">
              <a:lnSpc>
                <a:spcPts val="4799"/>
              </a:lnSpc>
            </a:pPr>
            <a:endParaRPr lang="en-US" sz="3999" dirty="0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ctr">
              <a:lnSpc>
                <a:spcPts val="4799"/>
              </a:lnSpc>
            </a:pPr>
            <a:r>
              <a:rPr lang="en-US" sz="3999" dirty="0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Correct Answer: B. </a:t>
            </a:r>
          </a:p>
          <a:p>
            <a:pPr algn="ctr">
              <a:lnSpc>
                <a:spcPts val="4799"/>
              </a:lnSpc>
            </a:pPr>
            <a:endParaRPr lang="en-US" sz="3999" dirty="0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algn="ctr">
              <a:lnSpc>
                <a:spcPts val="4799"/>
              </a:lnSpc>
            </a:pPr>
            <a:endParaRPr lang="en-US" sz="3999" dirty="0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467148" cy="2111280"/>
          </a:xfrm>
          <a:custGeom>
            <a:avLst/>
            <a:gdLst/>
            <a:ahLst/>
            <a:cxnLst/>
            <a:rect l="l" t="t" r="r" b="b"/>
            <a:pathLst>
              <a:path w="5467148" h="2111280">
                <a:moveTo>
                  <a:pt x="0" y="0"/>
                </a:moveTo>
                <a:lnTo>
                  <a:pt x="5467148" y="0"/>
                </a:lnTo>
                <a:lnTo>
                  <a:pt x="5467148" y="2111280"/>
                </a:lnTo>
                <a:lnTo>
                  <a:pt x="0" y="211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2238164" y="7950700"/>
            <a:ext cx="6049836" cy="2336300"/>
          </a:xfrm>
          <a:custGeom>
            <a:avLst/>
            <a:gdLst/>
            <a:ahLst/>
            <a:cxnLst/>
            <a:rect l="l" t="t" r="r" b="b"/>
            <a:pathLst>
              <a:path w="6049836" h="2336300">
                <a:moveTo>
                  <a:pt x="6049836" y="2336300"/>
                </a:moveTo>
                <a:lnTo>
                  <a:pt x="0" y="2336300"/>
                </a:lnTo>
                <a:lnTo>
                  <a:pt x="0" y="0"/>
                </a:lnTo>
                <a:lnTo>
                  <a:pt x="6049836" y="0"/>
                </a:lnTo>
                <a:lnTo>
                  <a:pt x="6049836" y="2336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4603752" y="-374122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7" y="0"/>
                </a:lnTo>
                <a:lnTo>
                  <a:pt x="6506837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644398" flipV="1">
            <a:off x="-2936262" y="6868083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4"/>
                </a:moveTo>
                <a:lnTo>
                  <a:pt x="6350998" y="6666124"/>
                </a:lnTo>
                <a:lnTo>
                  <a:pt x="6350998" y="0"/>
                </a:lnTo>
                <a:lnTo>
                  <a:pt x="0" y="0"/>
                </a:lnTo>
                <a:lnTo>
                  <a:pt x="0" y="666612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81848" y="1949355"/>
            <a:ext cx="1172430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7052" y="3898945"/>
            <a:ext cx="14673896" cy="299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Prompt Engineering helps educators: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D2A67D"/>
              </a:solidFill>
              <a:latin typeface="Sniglet"/>
              <a:ea typeface="Sniglet"/>
              <a:cs typeface="Sniglet"/>
              <a:sym typeface="Sniglet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 Save time 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 Improve lesson design  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D2A67D"/>
                </a:solidFill>
                <a:latin typeface="Sniglet"/>
                <a:ea typeface="Sniglet"/>
                <a:cs typeface="Sniglet"/>
                <a:sym typeface="Sniglet"/>
              </a:rPr>
              <a:t>Create engaging learning materials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886443" cy="3045554"/>
          </a:xfrm>
          <a:custGeom>
            <a:avLst/>
            <a:gdLst/>
            <a:ahLst/>
            <a:cxnLst/>
            <a:rect l="l" t="t" r="r" b="b"/>
            <a:pathLst>
              <a:path w="7886443" h="3045554">
                <a:moveTo>
                  <a:pt x="0" y="0"/>
                </a:moveTo>
                <a:lnTo>
                  <a:pt x="7886443" y="0"/>
                </a:lnTo>
                <a:lnTo>
                  <a:pt x="7886443" y="3045554"/>
                </a:lnTo>
                <a:lnTo>
                  <a:pt x="0" y="304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0382951" y="7238472"/>
            <a:ext cx="7894144" cy="3048528"/>
          </a:xfrm>
          <a:custGeom>
            <a:avLst/>
            <a:gdLst/>
            <a:ahLst/>
            <a:cxnLst/>
            <a:rect l="l" t="t" r="r" b="b"/>
            <a:pathLst>
              <a:path w="7894144" h="3048528">
                <a:moveTo>
                  <a:pt x="7894144" y="3048528"/>
                </a:moveTo>
                <a:lnTo>
                  <a:pt x="0" y="3048528"/>
                </a:lnTo>
                <a:lnTo>
                  <a:pt x="0" y="0"/>
                </a:lnTo>
                <a:lnTo>
                  <a:pt x="7894144" y="0"/>
                </a:lnTo>
                <a:lnTo>
                  <a:pt x="7894144" y="304852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9734606">
            <a:off x="13419985" y="-3045947"/>
            <a:ext cx="6506838" cy="6829696"/>
          </a:xfrm>
          <a:custGeom>
            <a:avLst/>
            <a:gdLst/>
            <a:ahLst/>
            <a:cxnLst/>
            <a:rect l="l" t="t" r="r" b="b"/>
            <a:pathLst>
              <a:path w="6506838" h="6829696">
                <a:moveTo>
                  <a:pt x="0" y="0"/>
                </a:moveTo>
                <a:lnTo>
                  <a:pt x="6506838" y="0"/>
                </a:lnTo>
                <a:lnTo>
                  <a:pt x="6506838" y="6829696"/>
                </a:lnTo>
                <a:lnTo>
                  <a:pt x="0" y="6829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419017" flipV="1">
            <a:off x="-1675190" y="6357606"/>
            <a:ext cx="6350998" cy="6666124"/>
          </a:xfrm>
          <a:custGeom>
            <a:avLst/>
            <a:gdLst/>
            <a:ahLst/>
            <a:cxnLst/>
            <a:rect l="l" t="t" r="r" b="b"/>
            <a:pathLst>
              <a:path w="6350998" h="6666124">
                <a:moveTo>
                  <a:pt x="0" y="6666123"/>
                </a:moveTo>
                <a:lnTo>
                  <a:pt x="6350998" y="6666123"/>
                </a:lnTo>
                <a:lnTo>
                  <a:pt x="6350998" y="0"/>
                </a:lnTo>
                <a:lnTo>
                  <a:pt x="0" y="0"/>
                </a:lnTo>
                <a:lnTo>
                  <a:pt x="0" y="666612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81848" y="4356100"/>
            <a:ext cx="11724304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>
                <a:solidFill>
                  <a:srgbClr val="D2A67D"/>
                </a:solidFill>
                <a:latin typeface="More Sugar"/>
                <a:ea typeface="More Sugar"/>
                <a:cs typeface="More Sugar"/>
                <a:sym typeface="More Suga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606</Words>
  <Application>Microsoft Office PowerPoint</Application>
  <PresentationFormat>Custom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Arial</vt:lpstr>
      <vt:lpstr>More Sugar</vt:lpstr>
      <vt:lpstr>Sniglet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for Educators</dc:title>
  <cp:lastModifiedBy>ATHIRA A</cp:lastModifiedBy>
  <cp:revision>2</cp:revision>
  <dcterms:created xsi:type="dcterms:W3CDTF">2006-08-16T00:00:00Z</dcterms:created>
  <dcterms:modified xsi:type="dcterms:W3CDTF">2026-03-07T10:30:20Z</dcterms:modified>
  <dc:identifier>DAHDOnFq7d4</dc:identifier>
</cp:coreProperties>
</file>